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70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A12A8-BC1B-426B-A37B-32E22F455CCE}" v="21" dt="2026-08-16T15:18:25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ushal Boggarapu" userId="29a7fe6755c904f0" providerId="LiveId" clId="{1E987572-EAAC-43EC-94BF-6B7BD207010C}"/>
    <pc:docChg chg="undo custSel addSld delSld modSld">
      <pc:chgData name="Sai Kushal Boggarapu" userId="29a7fe6755c904f0" providerId="LiveId" clId="{1E987572-EAAC-43EC-94BF-6B7BD207010C}" dt="2026-08-16T15:18:28.591" v="238" actId="2696"/>
      <pc:docMkLst>
        <pc:docMk/>
      </pc:docMkLst>
      <pc:sldChg chg="modSp mod">
        <pc:chgData name="Sai Kushal Boggarapu" userId="29a7fe6755c904f0" providerId="LiveId" clId="{1E987572-EAAC-43EC-94BF-6B7BD207010C}" dt="2026-08-15T12:58:02.038" v="211" actId="1076"/>
        <pc:sldMkLst>
          <pc:docMk/>
          <pc:sldMk cId="2165276779" sldId="256"/>
        </pc:sldMkLst>
        <pc:spChg chg="mod">
          <ac:chgData name="Sai Kushal Boggarapu" userId="29a7fe6755c904f0" providerId="LiveId" clId="{1E987572-EAAC-43EC-94BF-6B7BD207010C}" dt="2026-08-15T12:58:02.038" v="211" actId="1076"/>
          <ac:spMkLst>
            <pc:docMk/>
            <pc:sldMk cId="2165276779" sldId="256"/>
            <ac:spMk id="4" creationId="{00000000-0000-0000-0000-000000000000}"/>
          </ac:spMkLst>
        </pc:spChg>
        <pc:spChg chg="mod">
          <ac:chgData name="Sai Kushal Boggarapu" userId="29a7fe6755c904f0" providerId="LiveId" clId="{1E987572-EAAC-43EC-94BF-6B7BD207010C}" dt="2026-08-15T12:57:35.004" v="210" actId="20577"/>
          <ac:spMkLst>
            <pc:docMk/>
            <pc:sldMk cId="2165276779" sldId="256"/>
            <ac:spMk id="5" creationId="{00000000-0000-0000-0000-000000000000}"/>
          </ac:spMkLst>
        </pc:spChg>
      </pc:sldChg>
      <pc:sldChg chg="modSp add del">
        <pc:chgData name="Sai Kushal Boggarapu" userId="29a7fe6755c904f0" providerId="LiveId" clId="{1E987572-EAAC-43EC-94BF-6B7BD207010C}" dt="2026-08-16T15:18:25.403" v="237"/>
        <pc:sldMkLst>
          <pc:docMk/>
          <pc:sldMk cId="3133904308" sldId="259"/>
        </pc:sldMkLst>
        <pc:spChg chg="mod">
          <ac:chgData name="Sai Kushal Boggarapu" userId="29a7fe6755c904f0" providerId="LiveId" clId="{1E987572-EAAC-43EC-94BF-6B7BD207010C}" dt="2026-08-15T13:12:15.879" v="234"/>
          <ac:spMkLst>
            <pc:docMk/>
            <pc:sldMk cId="3133904308" sldId="259"/>
            <ac:spMk id="5" creationId="{00000000-0000-0000-0000-000000000000}"/>
          </ac:spMkLst>
        </pc:spChg>
      </pc:sldChg>
      <pc:sldChg chg="addSp modSp mod">
        <pc:chgData name="Sai Kushal Boggarapu" userId="29a7fe6755c904f0" providerId="LiveId" clId="{1E987572-EAAC-43EC-94BF-6B7BD207010C}" dt="2026-08-15T12:49:52.379" v="8" actId="255"/>
        <pc:sldMkLst>
          <pc:docMk/>
          <pc:sldMk cId="2446029670" sldId="264"/>
        </pc:sldMkLst>
        <pc:spChg chg="mod">
          <ac:chgData name="Sai Kushal Boggarapu" userId="29a7fe6755c904f0" providerId="LiveId" clId="{1E987572-EAAC-43EC-94BF-6B7BD207010C}" dt="2026-08-15T12:49:21.710" v="3" actId="1076"/>
          <ac:spMkLst>
            <pc:docMk/>
            <pc:sldMk cId="2446029670" sldId="264"/>
            <ac:spMk id="8" creationId="{00000000-0000-0000-0000-000000000000}"/>
          </ac:spMkLst>
        </pc:spChg>
        <pc:spChg chg="add mod">
          <ac:chgData name="Sai Kushal Boggarapu" userId="29a7fe6755c904f0" providerId="LiveId" clId="{1E987572-EAAC-43EC-94BF-6B7BD207010C}" dt="2026-08-15T12:49:52.379" v="8" actId="255"/>
          <ac:spMkLst>
            <pc:docMk/>
            <pc:sldMk cId="2446029670" sldId="264"/>
            <ac:spMk id="10" creationId="{9A532B70-CAEC-9CF8-BE0D-04D063056844}"/>
          </ac:spMkLst>
        </pc:spChg>
        <pc:picChg chg="mod">
          <ac:chgData name="Sai Kushal Boggarapu" userId="29a7fe6755c904f0" providerId="LiveId" clId="{1E987572-EAAC-43EC-94BF-6B7BD207010C}" dt="2026-08-15T12:49:14.594" v="2" actId="1076"/>
          <ac:picMkLst>
            <pc:docMk/>
            <pc:sldMk cId="2446029670" sldId="264"/>
            <ac:picMk id="9" creationId="{00000000-0000-0000-0000-000000000000}"/>
          </ac:picMkLst>
        </pc:picChg>
      </pc:sldChg>
      <pc:sldChg chg="modSp mod">
        <pc:chgData name="Sai Kushal Boggarapu" userId="29a7fe6755c904f0" providerId="LiveId" clId="{1E987572-EAAC-43EC-94BF-6B7BD207010C}" dt="2026-08-15T12:51:53.406" v="12"/>
        <pc:sldMkLst>
          <pc:docMk/>
          <pc:sldMk cId="2518528525" sldId="265"/>
        </pc:sldMkLst>
        <pc:spChg chg="mod">
          <ac:chgData name="Sai Kushal Boggarapu" userId="29a7fe6755c904f0" providerId="LiveId" clId="{1E987572-EAAC-43EC-94BF-6B7BD207010C}" dt="2026-08-15T12:51:53.406" v="12"/>
          <ac:spMkLst>
            <pc:docMk/>
            <pc:sldMk cId="2518528525" sldId="265"/>
            <ac:spMk id="16" creationId="{00000000-0000-0000-0000-000000000000}"/>
          </ac:spMkLst>
        </pc:spChg>
      </pc:sldChg>
      <pc:sldChg chg="del">
        <pc:chgData name="Sai Kushal Boggarapu" userId="29a7fe6755c904f0" providerId="LiveId" clId="{1E987572-EAAC-43EC-94BF-6B7BD207010C}" dt="2026-08-15T12:47:06.231" v="1" actId="2696"/>
        <pc:sldMkLst>
          <pc:docMk/>
          <pc:sldMk cId="953482524" sldId="267"/>
        </pc:sldMkLst>
      </pc:sldChg>
      <pc:sldChg chg="addSp delSp modSp mod">
        <pc:chgData name="Sai Kushal Boggarapu" userId="29a7fe6755c904f0" providerId="LiveId" clId="{1E987572-EAAC-43EC-94BF-6B7BD207010C}" dt="2026-08-15T13:06:30.135" v="233"/>
        <pc:sldMkLst>
          <pc:docMk/>
          <pc:sldMk cId="572328906" sldId="269"/>
        </pc:sldMkLst>
        <pc:spChg chg="mod">
          <ac:chgData name="Sai Kushal Boggarapu" userId="29a7fe6755c904f0" providerId="LiveId" clId="{1E987572-EAAC-43EC-94BF-6B7BD207010C}" dt="2026-08-15T13:06:24.756" v="230" actId="12"/>
          <ac:spMkLst>
            <pc:docMk/>
            <pc:sldMk cId="572328906" sldId="269"/>
            <ac:spMk id="3" creationId="{00000000-0000-0000-0000-000000000000}"/>
          </ac:spMkLst>
        </pc:spChg>
        <pc:spChg chg="add del mod">
          <ac:chgData name="Sai Kushal Boggarapu" userId="29a7fe6755c904f0" providerId="LiveId" clId="{1E987572-EAAC-43EC-94BF-6B7BD207010C}" dt="2026-08-15T13:06:30.135" v="233"/>
          <ac:spMkLst>
            <pc:docMk/>
            <pc:sldMk cId="572328906" sldId="269"/>
            <ac:spMk id="5" creationId="{BC2987D3-D01B-D7CA-AF1F-53EFCFA997F8}"/>
          </ac:spMkLst>
        </pc:spChg>
      </pc:sldChg>
      <pc:sldChg chg="add">
        <pc:chgData name="Sai Kushal Boggarapu" userId="29a7fe6755c904f0" providerId="LiveId" clId="{1E987572-EAAC-43EC-94BF-6B7BD207010C}" dt="2026-08-15T12:46:57.137" v="0"/>
        <pc:sldMkLst>
          <pc:docMk/>
          <pc:sldMk cId="3170386330" sldId="270"/>
        </pc:sldMkLst>
      </pc:sldChg>
      <pc:sldChg chg="add del">
        <pc:chgData name="Sai Kushal Boggarapu" userId="29a7fe6755c904f0" providerId="LiveId" clId="{1E987572-EAAC-43EC-94BF-6B7BD207010C}" dt="2026-08-16T15:18:28.591" v="238" actId="2696"/>
        <pc:sldMkLst>
          <pc:docMk/>
          <pc:sldMk cId="4258285714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F4938-282E-7EB9-62AF-AF586693B1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22AIE301 Probabilistic Reasoning Mid Sem Review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B28BF-6340-F636-D787-FB659FCE92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26D1F-06E3-422D-8132-167540CBF1A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4D581-E6EC-2828-7177-211D9E74F9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0D556-E21E-3883-BD60-A64D1C90A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DD416-B1B0-4F31-84DE-F909166CA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9739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22AIE301 Probabilistic Reasoning Mid Sem Review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307B2-0808-4673-8568-BAFF25A7D478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CF185-347F-481B-AB20-1A31C0CC8A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15963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E233-5A3C-E4D4-951B-7F239B38F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880EE-CE87-EEC1-63B9-A9071003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07488-3839-8F81-5C72-72FC5D89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E1ACE-92B2-AFCB-680E-000772A6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A23B0-5864-694F-D6C8-33AE3028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34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F5AF-627A-00D4-D8F1-29F01C03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464D-C24F-DECC-CB2D-74F6A2B09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8B1D-E7B1-35E0-0E27-977EE632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099BE-5097-DA39-2641-D55302FA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E955F-76C0-7744-C927-C17B3EC1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08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23AA-2C2A-584D-3EB8-59B52C1A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2F662-C3C4-79BD-9AF2-FDA8170D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F33F4-6092-C244-68AD-ECE4378E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40BF8-D78B-873B-9156-7D53AB75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E5685-E016-2F5B-33DD-8493481D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9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D874-F537-0563-FBC9-1DF9714C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97164-C283-40DD-FECF-AFACFD056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58EC-2CD2-EF8F-9E05-87FAC09B1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58D63-5ACB-4395-E308-ECFC4A0A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2E933-6873-5523-8867-89B85FE6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DD65B-7129-0CB4-1DD8-11935267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29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DFCD-329C-1D0C-DB9E-FA2B4D48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66C22-4313-4F33-0315-21CBC7385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3EFC9-BDE3-7474-BEB5-F402DDB7F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56D34-0DDB-3C97-CCB7-6BECAE639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F463C-AC76-EF60-AD92-C239EE50D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57023-1E39-A645-2A03-6405739B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AB859-11F1-B79A-CC3B-76199576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50187-2985-207C-BC32-16BB78D0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07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B47D-35B1-32E7-1CB8-7BA1B65D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14283-B03F-84C1-9D49-9D53DBD8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27821-2A52-C94F-09D7-BD2E66EE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8DA86-DA1C-9289-1D01-D0F7799B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12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DF355-DA14-4D1E-9A9A-7F73A480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311D5-4F6F-4225-368D-04B86BBF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0EBA8-EA00-2708-171D-BB81ECD4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95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7859-0729-C840-0C42-95CED2C0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6F67-1CAA-E585-ECE1-BDC7B4A17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743DE-9D72-D443-71FF-574EC1986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F0468-A185-A466-6DEE-C7C09A77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0DC73-BE68-5126-F48C-5F7BED66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B3744-3D71-83F9-EFE9-13866C2F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6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91D7-1689-F88D-BEAF-8C8D0CC1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57FD2-3292-3913-E49E-5EAFD0B86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6210F-E330-7CC4-24D0-7ED616BB2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49CB4-49DC-B402-E211-29614467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B878-8F62-72AC-0ABC-83A234DD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568C1-FC8F-C511-BB74-FC436AE3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1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C392-FA5E-1811-B23A-E1DB8CF0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946E7-82C0-7399-F3A9-7CE316968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4DEDE-B49D-7763-9D0B-35B85349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7C16-7CA5-05F6-2CDB-D4B103D2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ABB72-0056-2E0E-E6A0-B92F7BDD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798E3-3C1B-2FFC-4E6D-ECEF36554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405E9-C4C2-5428-76EA-51533587B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B58EA-2D28-49AC-788B-07202DD55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081A9-87D2-4375-8809-D61C03DA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70D14-BF46-18DE-D1FF-9A790D9D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6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01A65-1F65-D774-D4C2-E48F3194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26F71-1AB5-B86F-1395-0BD163A4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E18CD-F41C-EE3F-F05A-87623354D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FC7D2-E1F6-47B5-A4AE-71020CFC12B4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C198A-5846-0A87-3F9A-EDBFBA608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56119-8892-0655-58BA-E8C40AA35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04FD2-767A-487C-AC69-9F6F7E64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46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11418" y="1481183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0" dirty="0">
                <a:solidFill>
                  <a:srgbClr val="141414"/>
                </a:solidFill>
                <a:latin typeface="Arial"/>
              </a:rPr>
              <a:t>Causal Probabilistic World Model
for Clinical Treatment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063240"/>
            <a:ext cx="9144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latin typeface="Arial"/>
              </a:rPr>
              <a:t>Bayesian Network Causal Discovery on the ACTG175 AIDS Clinical Trial Dataset</a:t>
            </a:r>
          </a:p>
          <a:p>
            <a:pPr algn="ctr"/>
            <a:r>
              <a:rPr sz="1600" dirty="0">
                <a:latin typeface="Arial"/>
              </a:rPr>
              <a:t>
Group Number: </a:t>
            </a:r>
            <a:r>
              <a:rPr lang="en-US" sz="1600" dirty="0">
                <a:latin typeface="Arial"/>
              </a:rPr>
              <a:t>C-11</a:t>
            </a:r>
          </a:p>
          <a:p>
            <a:pPr algn="ctr"/>
            <a:r>
              <a:rPr sz="1600" dirty="0">
                <a:latin typeface="Arial"/>
              </a:rPr>
              <a:t>
Sai Kushal B</a:t>
            </a:r>
            <a:r>
              <a:rPr lang="en-US" sz="1600" dirty="0">
                <a:latin typeface="Arial"/>
              </a:rPr>
              <a:t> – CB.SC.U4AIE24252</a:t>
            </a:r>
          </a:p>
          <a:p>
            <a:pPr algn="ctr"/>
            <a:r>
              <a:rPr lang="en-US" sz="1600" dirty="0">
                <a:latin typeface="Arial"/>
              </a:rPr>
              <a:t>Subash B – CB.SC.U4AIE24254</a:t>
            </a:r>
          </a:p>
          <a:p>
            <a:pPr algn="ctr"/>
            <a:r>
              <a:rPr lang="en-US" sz="1600" dirty="0">
                <a:latin typeface="Arial"/>
              </a:rPr>
              <a:t>Naveen K – CB.SC.U4AIE24235</a:t>
            </a:r>
          </a:p>
          <a:p>
            <a:pPr algn="ctr"/>
            <a:r>
              <a:rPr lang="en-US" sz="1600" dirty="0">
                <a:latin typeface="Arial"/>
              </a:rPr>
              <a:t>Charan Kumar Arepally – CB.SC.U4AIE24207</a:t>
            </a:r>
            <a:endParaRPr sz="1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527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5FE4-5EA1-2D69-BF62-C2527595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Outline of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9875520" cy="4480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Introduction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Literature Review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Research Gaps &amp; Motivation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Objectives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Overall Methodology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Probabilistic Reasoning: Inference &amp; Learning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Causal Intervention &amp; Treatment Decision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Modern AI Integration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Progress &amp; Results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Weekly Timeline</a:t>
            </a:r>
          </a:p>
          <a:p>
            <a:pPr>
              <a:spcAft>
                <a:spcPts val="400"/>
              </a:spcAft>
              <a:defRPr sz="2000">
                <a:solidFill>
                  <a:srgbClr val="141414"/>
                </a:solidFill>
                <a:latin typeface="Arial"/>
              </a:defRPr>
            </a:pPr>
            <a: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1036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1182-375E-0D72-7667-6BE2B7B5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16DC-E0F0-6DA2-7335-5077EE2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508760"/>
            <a:ext cx="493776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Clinical reasoning challenge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Predicting an outcome is different from estimating what would happen under a different treatment.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89320" y="1508760"/>
            <a:ext cx="493776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Project idea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Learn an interpretable causal Bayesian Network from ACTG175 trial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058400" cy="2194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/>
              <a:t>Model relationships among baseline patient characteristics, treatment and disease progression.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/>
              <a:t>Use Bayesian inference to estimate posterior outcome probabilities.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/>
              <a:t>Use intervention analysis, do(trt), to compare all four treatment options.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/>
              <a:t>Expose the model through a Flask API and React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0584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000" b="1">
                <a:solidFill>
                  <a:srgbClr val="1F606E"/>
                </a:solidFill>
                <a:latin typeface="Arial"/>
              </a:rPr>
              <a:t>Goal: estimate treatment-specific progression risk and rank available treatments.</a:t>
            </a:r>
          </a:p>
        </p:txBody>
      </p:sp>
    </p:spTree>
    <p:extLst>
      <p:ext uri="{BB962C8B-B14F-4D97-AF65-F5344CB8AC3E}">
        <p14:creationId xmlns:p14="http://schemas.microsoft.com/office/powerpoint/2010/main" val="38599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E56B-0A0E-0E8A-AABC-4C776C41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343C-1120-8936-2D0F-2145ECFD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>
                <a:latin typeface="Arial"/>
              </a:rPr>
              <a:t>Literature foundation: ACTG175 clinical trial + causal Bayesian networks + probabilistic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102412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50">
                <a:latin typeface="Arial"/>
              </a:rPr>
              <a:t>Key papers: Hammer et al. (1996), Katzenstein et al. (1996), Kyrimi et al. (2025), Zahoor et al. (2026).</a:t>
            </a:r>
            <a:endParaRPr sz="1400" b="0" dirty="0">
              <a:solidFill>
                <a:srgbClr val="5A5A5A"/>
              </a:solidFill>
              <a:latin typeface="Ari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marL="54864" marR="54864" marT="27432" marB="27432" anchor="ctr">
                    <a:solidFill>
                      <a:srgbClr val="2037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2037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 / Key Finding</a:t>
                      </a:r>
                    </a:p>
                  </a:txBody>
                  <a:tcPr marL="54864" marR="54864" marT="27432" marB="27432" anchor="ctr">
                    <a:solidFill>
                      <a:srgbClr val="2037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Limitation / Gap</a:t>
                      </a:r>
                    </a:p>
                  </a:txBody>
                  <a:tcPr marL="54864" marR="54864" marT="27432" marB="27432" anchor="ctr">
                    <a:solidFill>
                      <a:srgbClr val="203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Hammer et al. — ACTG175 trial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1996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Double-blind clinical trial comparing nucleoside monotherapy and combination therapy; provides the treatment/outcome foundation for ACTG175.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Clinical treatment comparison does not provide a Bayesian Network for individualized what-if treatment reasoning.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Katzenstein et al. — ACTG175 virologic &amp; immunologic study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1996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Analyzed virologic/immunologic markers, including CD4, and their relationship with clinical outcomes after nucleoside therapy.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Focuses on marker–outcome relationships; does not build a causal BN for treatment intervention and ranking.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Kyrimi et al. — Counterfactual reasoning with CBNs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Uses causal Bayesian networks for counterfactual reasoning about alternative treatment decisions in healthcare governance.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Not focused on ACTG175 or automated four-treatment ranking with an explicit utility rule.</a:t>
                      </a:r>
                    </a:p>
                  </a:txBody>
                  <a:tcPr marL="54864" marR="54864" marT="27432" marB="27432" anchor="ctr">
                    <a:solidFill>
                      <a:srgbClr val="EB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Zahoor et al. — Probabilistic Causal Fusion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Integrates causal Bayesian networks with probability trees to support prediction, intervention and counterfactual reasoning across clinical datasets.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0">
                          <a:solidFill>
                            <a:srgbClr val="202020"/>
                          </a:solidFill>
                          <a:latin typeface="Arial"/>
                        </a:rPr>
                        <a:t>Broader fusion framework; not specifically focused on ACTG175 treatment comparison using our compact BN + do(trt) pipeline.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90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76C6-5324-FEA0-3CED-5F641AAF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7309-1B93-588E-AE10-D13CA543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Takeaways / Research Gaps from Literature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5074920" cy="141732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1. Prediction ≠ Causation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A predictive model can estimate risk without answering a treatment what-if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17320"/>
            <a:ext cx="5074920" cy="141732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2. Black-box limitation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High predictive power does not automatically provide an interpretable causal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5074920" cy="141732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3. Observational comparison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Observed treatment outcomes do not directly equal counterfactual treatment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246120"/>
            <a:ext cx="5074920" cy="141732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4. Need for decision support</a:t>
            </a:r>
          </a:p>
          <a:p>
            <a:pPr>
              <a:spcBef>
                <a:spcPts val="400"/>
              </a:spcBef>
              <a:defRPr sz="1500">
                <a:solidFill>
                  <a:srgbClr val="141414"/>
                </a:solidFill>
                <a:latin typeface="Arial"/>
              </a:defRPr>
            </a:pPr>
            <a:r>
              <a:t>Clinical reasoning benefits from calibrated probabilities and explicit treatment alternatives.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33272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1F606E"/>
                </a:solidFill>
                <a:latin typeface="Arial"/>
              </a:rPr>
              <a:t>Motivation: build an interpretable probabilistic world model that supports causal treatment comparison.</a:t>
            </a:r>
          </a:p>
        </p:txBody>
      </p:sp>
    </p:spTree>
    <p:extLst>
      <p:ext uri="{BB962C8B-B14F-4D97-AF65-F5344CB8AC3E}">
        <p14:creationId xmlns:p14="http://schemas.microsoft.com/office/powerpoint/2010/main" val="24583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2E74-CA84-8F67-EA79-571E5371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623D-DDA3-7FBB-E6EB-E2A19F55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325880"/>
            <a:ext cx="685800" cy="658368"/>
          </a:xfrm>
          <a:prstGeom prst="roundRect">
            <a:avLst/>
          </a:prstGeom>
          <a:solidFill>
            <a:srgbClr val="203742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O1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1325880"/>
            <a:ext cx="9098280" cy="713232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Causal Structure Learning</a:t>
            </a:r>
          </a:p>
          <a:p>
            <a:pPr>
              <a:spcBef>
                <a:spcPts val="400"/>
              </a:spcBef>
              <a:defRPr sz="1300">
                <a:solidFill>
                  <a:srgbClr val="141414"/>
                </a:solidFill>
                <a:latin typeface="Arial"/>
              </a:defRPr>
            </a:pPr>
            <a:r>
              <a:t>Learn an interpretable DAG from ACTG175 data under temporal/domain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50008"/>
            <a:ext cx="685800" cy="658368"/>
          </a:xfrm>
          <a:prstGeom prst="roundRect">
            <a:avLst/>
          </a:prstGeom>
          <a:solidFill>
            <a:srgbClr val="203742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O2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2350008"/>
            <a:ext cx="9098280" cy="713232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Probabilistic Model</a:t>
            </a:r>
          </a:p>
          <a:p>
            <a:pPr>
              <a:spcBef>
                <a:spcPts val="400"/>
              </a:spcBef>
              <a:defRPr sz="1300">
                <a:solidFill>
                  <a:srgbClr val="141414"/>
                </a:solidFill>
                <a:latin typeface="Arial"/>
              </a:defRPr>
            </a:pPr>
            <a:r>
              <a:t>Learn Bayesian parameters/CPTs and perform exact probabilistic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74136"/>
            <a:ext cx="685800" cy="658368"/>
          </a:xfrm>
          <a:prstGeom prst="roundRect">
            <a:avLst/>
          </a:prstGeom>
          <a:solidFill>
            <a:srgbClr val="203742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O3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3374136"/>
            <a:ext cx="9098280" cy="713232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>
                <a:solidFill>
                  <a:srgbClr val="203742"/>
                </a:solidFill>
                <a:latin typeface="Arial"/>
              </a:rPr>
              <a:t>Treatment Intervention</a:t>
            </a:r>
          </a:p>
          <a:p>
            <a:pPr>
              <a:spcBef>
                <a:spcPts val="400"/>
              </a:spcBef>
              <a:defRPr sz="1300">
                <a:solidFill>
                  <a:srgbClr val="141414"/>
                </a:solidFill>
                <a:latin typeface="Arial"/>
              </a:defRPr>
            </a:pPr>
            <a:r>
              <a:rPr dirty="0"/>
              <a:t>Estimate P(label | do(trt)) for all four treatment options and rank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398264"/>
            <a:ext cx="685800" cy="658368"/>
          </a:xfrm>
          <a:prstGeom prst="roundRect">
            <a:avLst/>
          </a:prstGeom>
          <a:solidFill>
            <a:srgbClr val="203742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O4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4398264"/>
            <a:ext cx="9098280" cy="713232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Evaluation &amp; Delivery</a:t>
            </a:r>
          </a:p>
          <a:p>
            <a:pPr>
              <a:spcBef>
                <a:spcPts val="400"/>
              </a:spcBef>
              <a:defRPr sz="1300">
                <a:solidFill>
                  <a:srgbClr val="141414"/>
                </a:solidFill>
                <a:latin typeface="Arial"/>
              </a:defRPr>
            </a:pPr>
            <a:r>
              <a:t>Validate the model on held-out data and expose results through an interactive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F606E"/>
                </a:solidFill>
                <a:latin typeface="Arial"/>
              </a:rPr>
              <a:t>Evaluation metrics: Accuracy • ROC-AUC • Log Loss • Brier Score • ECE • Treatment-decision comparison</a:t>
            </a:r>
          </a:p>
        </p:txBody>
      </p:sp>
    </p:spTree>
    <p:extLst>
      <p:ext uri="{BB962C8B-B14F-4D97-AF65-F5344CB8AC3E}">
        <p14:creationId xmlns:p14="http://schemas.microsoft.com/office/powerpoint/2010/main" val="145669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63875-3991-DFEE-E3DA-7498F379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C60D-FA5B-831E-A191-94C6BA3F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Methodology – Overall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05156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ACTG175
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0" y="2240280"/>
            <a:ext cx="292608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74519" y="1828800"/>
            <a:ext cx="105156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Preprocess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79" y="2240280"/>
            <a:ext cx="292609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828800"/>
            <a:ext cx="105156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Structure
Learning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79" y="2240280"/>
            <a:ext cx="292609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1828800"/>
            <a:ext cx="105156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DAG
Selection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9" y="2240280"/>
            <a:ext cx="292609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1828800"/>
            <a:ext cx="105156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Parameter
Learning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79" y="2240280"/>
            <a:ext cx="292609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1828800"/>
            <a:ext cx="1051560" cy="822960"/>
          </a:xfrm>
          <a:prstGeom prst="roundRect">
            <a:avLst/>
          </a:prstGeom>
          <a:solidFill>
            <a:srgbClr val="DCE6E9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3742"/>
                </a:solidFill>
                <a:latin typeface="Arial"/>
              </a:rPr>
              <a:t>Bayesian
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240280"/>
            <a:ext cx="292608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32520" y="1828800"/>
            <a:ext cx="1143000" cy="822960"/>
          </a:xfrm>
          <a:prstGeom prst="roundRect">
            <a:avLst/>
          </a:prstGeom>
          <a:solidFill>
            <a:srgbClr val="DCE6E9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3742"/>
                </a:solidFill>
                <a:latin typeface="Arial"/>
              </a:rPr>
              <a:t>Inference /
Intervention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75520" y="2240280"/>
            <a:ext cx="155448" cy="0"/>
          </a:xfrm>
          <a:prstGeom prst="line">
            <a:avLst/>
          </a:prstGeom>
          <a:ln w="1524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1828800"/>
            <a:ext cx="914400" cy="82296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03742"/>
                </a:solidFill>
                <a:latin typeface="Arial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1828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Structure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03742"/>
                </a:solidFill>
                <a:latin typeface="Arial"/>
              </a:rPr>
              <a:t>Hill Climbing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520440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03742"/>
                </a:solidFill>
                <a:latin typeface="Arial"/>
              </a:rPr>
              <a:t>Tabu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39" y="3520440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03742"/>
                </a:solidFill>
                <a:latin typeface="Arial"/>
              </a:rPr>
              <a:t>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063240"/>
            <a:ext cx="2011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Parameter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52044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03742"/>
                </a:solidFill>
                <a:latin typeface="Arial"/>
              </a:rPr>
              <a:t>BDeu prior • ESS =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Exact inference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520440"/>
            <a:ext cx="17373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03742"/>
                </a:solidFill>
                <a:latin typeface="Arial"/>
              </a:rPr>
              <a:t>Variable Elimination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2194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Causal decision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520440"/>
            <a:ext cx="17373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dirty="0">
                <a:solidFill>
                  <a:srgbClr val="203742"/>
                </a:solidFill>
                <a:latin typeface="Arial"/>
              </a:rPr>
              <a:t>do(trt) +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09160"/>
            <a:ext cx="101498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1F606E"/>
                </a:solidFill>
                <a:latin typeface="Arial"/>
              </a:rPr>
              <a:t>PGM used: Discrete Bayesian Network represented as a Directed Acyclic Graph (DAG).</a:t>
            </a:r>
          </a:p>
        </p:txBody>
      </p:sp>
    </p:spTree>
    <p:extLst>
      <p:ext uri="{BB962C8B-B14F-4D97-AF65-F5344CB8AC3E}">
        <p14:creationId xmlns:p14="http://schemas.microsoft.com/office/powerpoint/2010/main" val="187944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B205F-C955-DDD1-FA10-B0BB51F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3BEE-8BC7-78A9-9DB3-B8B54ACE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Methodology – PR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200400" cy="10515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>
                <a:solidFill>
                  <a:srgbClr val="203742"/>
                </a:solidFill>
                <a:latin typeface="Arial"/>
              </a:rPr>
              <a:t>PGM</a:t>
            </a:r>
          </a:p>
          <a:p>
            <a:pPr>
              <a:spcBef>
                <a:spcPts val="400"/>
              </a:spcBef>
              <a:defRPr sz="1700">
                <a:solidFill>
                  <a:srgbClr val="141414"/>
                </a:solidFill>
                <a:latin typeface="Arial"/>
              </a:defRPr>
            </a:pPr>
            <a:r>
              <a:t>Discrete Bayesian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1325880"/>
            <a:ext cx="3200400" cy="10515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>
                <a:solidFill>
                  <a:srgbClr val="203742"/>
                </a:solidFill>
                <a:latin typeface="Arial"/>
              </a:rPr>
              <a:t>Inference type</a:t>
            </a:r>
          </a:p>
          <a:p>
            <a:pPr>
              <a:spcBef>
                <a:spcPts val="400"/>
              </a:spcBef>
              <a:defRPr sz="1700">
                <a:solidFill>
                  <a:srgbClr val="141414"/>
                </a:solidFill>
                <a:latin typeface="Arial"/>
              </a:defRPr>
            </a:pPr>
            <a:r>
              <a:t>Exact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3200400" cy="10515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>
                <a:solidFill>
                  <a:srgbClr val="203742"/>
                </a:solidFill>
                <a:latin typeface="Arial"/>
              </a:rPr>
              <a:t>Algorithm</a:t>
            </a:r>
          </a:p>
          <a:p>
            <a:pPr>
              <a:spcBef>
                <a:spcPts val="400"/>
              </a:spcBef>
              <a:defRPr sz="1700">
                <a:solidFill>
                  <a:srgbClr val="141414"/>
                </a:solidFill>
                <a:latin typeface="Arial"/>
              </a:defRPr>
            </a:pPr>
            <a:r>
              <a:t>Variable Elimination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3742"/>
                </a:solidFill>
                <a:latin typeface="Arial"/>
              </a:rPr>
              <a:t>Patient
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97180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3742"/>
                </a:solidFill>
                <a:latin typeface="Arial"/>
              </a:rPr>
              <a:t>Bayesian
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97180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3742"/>
                </a:solidFill>
                <a:latin typeface="Arial"/>
              </a:rPr>
              <a:t>Variable
Elimination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971800"/>
            <a:ext cx="1874519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3742"/>
                </a:solidFill>
                <a:latin typeface="Arial"/>
              </a:rPr>
              <a:t>Posterior
Probability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429000"/>
            <a:ext cx="5029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3429000"/>
            <a:ext cx="5029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35240" y="3429000"/>
            <a:ext cx="5029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343400"/>
            <a:ext cx="99669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0">
                <a:solidFill>
                  <a:srgbClr val="141414"/>
                </a:solidFill>
                <a:latin typeface="Arial"/>
              </a:rPr>
              <a:t>Example query: P(label = 1 | observed patient evidence)
Exact inference is appropriate because the final network is compact: 17 nodes, maximum in-degree 3.</a:t>
            </a:r>
          </a:p>
        </p:txBody>
      </p:sp>
    </p:spTree>
    <p:extLst>
      <p:ext uri="{BB962C8B-B14F-4D97-AF65-F5344CB8AC3E}">
        <p14:creationId xmlns:p14="http://schemas.microsoft.com/office/powerpoint/2010/main" val="380464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D7B30-CBED-A082-0FA4-2FD5740D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3E01-C600-A0C7-96B6-BC4AFE3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Methodology – PR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337560" cy="19659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 dirty="0">
                <a:solidFill>
                  <a:srgbClr val="203742"/>
                </a:solidFill>
                <a:latin typeface="Arial"/>
              </a:rPr>
              <a:t>1. Structure Learning</a:t>
            </a:r>
          </a:p>
          <a:p>
            <a:pPr>
              <a:spcBef>
                <a:spcPts val="400"/>
              </a:spcBef>
              <a:defRPr sz="1400">
                <a:solidFill>
                  <a:srgbClr val="141414"/>
                </a:solidFill>
                <a:latin typeface="Arial"/>
              </a:defRPr>
            </a:pPr>
            <a:r>
              <a:rPr dirty="0"/>
              <a:t>Hill Climbing</a:t>
            </a:r>
            <a:br>
              <a:rPr dirty="0"/>
            </a:br>
            <a:r>
              <a:rPr dirty="0"/>
              <a:t>Tabu Search</a:t>
            </a:r>
            <a:br>
              <a:rPr dirty="0"/>
            </a:br>
            <a:r>
              <a:rPr dirty="0"/>
              <a:t>GES</a:t>
            </a:r>
            <a:br>
              <a:rPr dirty="0"/>
            </a:br>
            <a:br>
              <a:rPr dirty="0"/>
            </a:br>
            <a:r>
              <a:rPr dirty="0"/>
              <a:t>Constraints: baseline → treatment → outcome; label → trt forbidden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325880"/>
            <a:ext cx="3337560" cy="19659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 dirty="0">
                <a:solidFill>
                  <a:srgbClr val="203742"/>
                </a:solidFill>
                <a:latin typeface="Arial"/>
              </a:rPr>
              <a:t>2. DAG Selection</a:t>
            </a:r>
          </a:p>
          <a:p>
            <a:pPr>
              <a:spcBef>
                <a:spcPts val="400"/>
              </a:spcBef>
              <a:defRPr sz="1400">
                <a:solidFill>
                  <a:srgbClr val="141414"/>
                </a:solidFill>
                <a:latin typeface="Arial"/>
              </a:defRPr>
            </a:pPr>
            <a:r>
              <a:rPr dirty="0"/>
              <a:t>Hill Climbing: 22 edges</a:t>
            </a:r>
            <a:br>
              <a:rPr dirty="0"/>
            </a:br>
            <a:r>
              <a:rPr dirty="0"/>
              <a:t>Tabu: 22 edges</a:t>
            </a:r>
            <a:br>
              <a:rPr dirty="0"/>
            </a:br>
            <a:r>
              <a:rPr dirty="0"/>
              <a:t>Jaccard = 1.0</a:t>
            </a:r>
            <a:br>
              <a:rPr dirty="0"/>
            </a:br>
            <a:r>
              <a:rPr dirty="0"/>
              <a:t>Bootstrap: 7 edges ≥75%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25880"/>
            <a:ext cx="3337560" cy="196596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03742"/>
                </a:solidFill>
                <a:latin typeface="Arial"/>
              </a:rPr>
              <a:t>3. Parameter Learning</a:t>
            </a:r>
          </a:p>
          <a:p>
            <a:pPr>
              <a:spcBef>
                <a:spcPts val="400"/>
              </a:spcBef>
              <a:defRPr sz="1400">
                <a:solidFill>
                  <a:srgbClr val="141414"/>
                </a:solidFill>
                <a:latin typeface="Arial"/>
              </a:defRPr>
            </a:pPr>
            <a:r>
              <a:t>BayesianEstimator</a:t>
            </a:r>
            <a:br/>
            <a:r>
              <a:t>BDeu prior</a:t>
            </a:r>
            <a:br/>
            <a:r>
              <a:t>ESS = 10</a:t>
            </a:r>
            <a:br/>
            <a:r>
              <a:t>175 CPT entries; zero degenerate entries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331720"/>
            <a:ext cx="18288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79" y="2331720"/>
            <a:ext cx="182881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4380" y="4114800"/>
            <a:ext cx="101498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000" b="1" dirty="0">
                <a:solidFill>
                  <a:srgbClr val="1F606E"/>
                </a:solidFill>
                <a:latin typeface="Arial"/>
              </a:rPr>
              <a:t>Final model: 17 nodes • 23 edges • maximum in-degree 3</a:t>
            </a:r>
          </a:p>
        </p:txBody>
      </p:sp>
      <p:pic>
        <p:nvPicPr>
          <p:cNvPr id="9" name="Picture 8" descr="final_dag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20" y="4617720"/>
            <a:ext cx="8138160" cy="160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532B70-CAEC-9CF8-BE0D-04D063056844}"/>
              </a:ext>
            </a:extLst>
          </p:cNvPr>
          <p:cNvSpPr txBox="1"/>
          <p:nvPr/>
        </p:nvSpPr>
        <p:spPr>
          <a:xfrm>
            <a:off x="2336800" y="3548743"/>
            <a:ext cx="6937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F606E"/>
                </a:solidFill>
                <a:latin typeface="Arial"/>
              </a:rPr>
              <a:t>Final 23rd edge: trt → label (added after baseline DAG selection for intervention analysis).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4602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A87E-B312-273F-863A-A0878BDC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BA6-E307-4415-C9A5-714602DC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Methodology – Decision, Intervention &amp; What-If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5029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203742"/>
                </a:solidFill>
                <a:latin typeface="Arial"/>
              </a:rPr>
              <a:t>Association vs.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2103120" cy="73152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203742"/>
                </a:solidFill>
                <a:latin typeface="Arial"/>
              </a:rPr>
              <a:t>P(label | trt)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65960"/>
            <a:ext cx="1463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vs.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2103120" cy="731520"/>
          </a:xfrm>
          <a:prstGeom prst="roundRect">
            <a:avLst/>
          </a:prstGeom>
          <a:solidFill>
            <a:srgbClr val="DCE6E9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203742"/>
                </a:solidFill>
                <a:latin typeface="Arial"/>
              </a:rPr>
              <a:t>P(label | do(trt))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280160"/>
            <a:ext cx="3931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203742"/>
                </a:solidFill>
                <a:latin typeface="Arial"/>
              </a:rPr>
              <a:t>Per-patient decision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828800"/>
            <a:ext cx="1645920" cy="621792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do(0)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1645920" cy="621792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do(1)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697480"/>
            <a:ext cx="1645920" cy="621792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do(2)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2697480"/>
            <a:ext cx="1645920" cy="621792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do(3)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2743200" cy="713232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Predicted P(label = 1)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715000" y="2743200"/>
            <a:ext cx="1325880" cy="91440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4617720"/>
            <a:ext cx="2743200" cy="713232"/>
          </a:xfrm>
          <a:prstGeom prst="roundRect">
            <a:avLst/>
          </a:prstGeom>
          <a:solidFill>
            <a:srgbClr val="DCE6E9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Rank treatments → recommend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4389120"/>
            <a:ext cx="0" cy="201168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440680"/>
            <a:ext cx="10149840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0" dirty="0">
                <a:solidFill>
                  <a:srgbClr val="141414"/>
                </a:solidFill>
                <a:latin typeface="Arial"/>
              </a:rPr>
              <a:t>Utility: label 0 = 1.0 (no progression); label 1 = 0.0 (progression). Higher expected utility = preferred treatment.</a:t>
            </a:r>
            <a:endParaRPr lang="en-US" sz="1400" b="0" dirty="0">
              <a:solidFill>
                <a:srgbClr val="141414"/>
              </a:solidFill>
              <a:latin typeface="Arial"/>
            </a:endParaRPr>
          </a:p>
          <a:p>
            <a:pPr algn="ctr"/>
            <a:endParaRPr lang="en-IN" sz="1400" dirty="0">
              <a:solidFill>
                <a:srgbClr val="141414"/>
              </a:solidFill>
              <a:latin typeface="Arial"/>
            </a:endParaRPr>
          </a:p>
          <a:p>
            <a:pPr algn="ctr"/>
            <a:r>
              <a:rPr lang="en-US" sz="1400" dirty="0">
                <a:solidFill>
                  <a:srgbClr val="5A5A5A"/>
                </a:solidFill>
                <a:latin typeface="Arial"/>
              </a:rPr>
              <a:t>Decision rule: rank treatments by expected utility, equivalent here to choosing the lowest predicted P(label </a:t>
            </a:r>
            <a:r>
              <a:rPr lang="en-IN" sz="1400" dirty="0">
                <a:solidFill>
                  <a:srgbClr val="5A5A5A"/>
                </a:solidFill>
                <a:latin typeface="Arial"/>
              </a:rPr>
              <a:t>= 1).</a:t>
            </a:r>
            <a:endParaRPr sz="1400" b="0" dirty="0">
              <a:solidFill>
                <a:srgbClr val="14141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852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EDCC-4731-2D8D-D580-44BF6BB2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6508-4D74-378A-497A-6F198416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Methodology – Combining with Modern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148840" cy="73152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Data-driven ML
Structure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417320"/>
            <a:ext cx="2148840" cy="73152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Probabilistic AI
Bayesian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17320"/>
            <a:ext cx="2148840" cy="73152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203742"/>
                </a:solidFill>
                <a:latin typeface="Arial"/>
              </a:rPr>
              <a:t>Causal AI
do(trt) Intervention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417320"/>
            <a:ext cx="2148840" cy="731520"/>
          </a:xfrm>
          <a:prstGeom prst="roundRect">
            <a:avLst/>
          </a:prstGeom>
          <a:solidFill>
            <a:srgbClr val="EBF3F5"/>
          </a:solidFill>
          <a:ln w="15240">
            <a:solidFill>
              <a:srgbClr val="1F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AI Application
Flask + React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1783080"/>
            <a:ext cx="2743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1783080"/>
            <a:ext cx="2743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18120" y="1783080"/>
            <a:ext cx="274320" cy="0"/>
          </a:xfrm>
          <a:prstGeom prst="line">
            <a:avLst/>
          </a:prstGeom>
          <a:ln w="19050">
            <a:solidFill>
              <a:srgbClr val="1F6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606040"/>
            <a:ext cx="996696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1">
                <a:solidFill>
                  <a:srgbClr val="1F606E"/>
                </a:solidFill>
                <a:latin typeface="Arial"/>
              </a:rPr>
              <a:t>The project does not use deep learning; instead it combines modern ML-style structure discovery with probabilistic and causal reasoning.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9875520" cy="1828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dirty="0"/>
              <a:t>Automated discovery: Hill Climbing, Tabu Search and GES.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dirty="0"/>
              <a:t>Uncertainty modeling: </a:t>
            </a:r>
            <a:r>
              <a:rPr dirty="0" err="1"/>
              <a:t>BayesianEstimator</a:t>
            </a:r>
            <a:r>
              <a:rPr dirty="0"/>
              <a:t> + </a:t>
            </a:r>
            <a:r>
              <a:rPr dirty="0" err="1"/>
              <a:t>CPTs.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dirty="0"/>
              <a:t>Causal what-if reasoning: do(trt) treatment interventions.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dirty="0"/>
              <a:t>Delivery: validated model reused by a local Flask API and React dashboard.</a:t>
            </a:r>
          </a:p>
        </p:txBody>
      </p:sp>
    </p:spTree>
    <p:extLst>
      <p:ext uri="{BB962C8B-B14F-4D97-AF65-F5344CB8AC3E}">
        <p14:creationId xmlns:p14="http://schemas.microsoft.com/office/powerpoint/2010/main" val="2590983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C463-4EBF-A3C9-1D04-6A1C3677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FE68-5944-51ED-138C-2F651645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Progress in terms of Project Objectives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258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45720" marR="45720" marT="27432" marB="27432" anchor="ctr">
                    <a:solidFill>
                      <a:srgbClr val="2037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45720" marR="45720" marT="27432" marB="27432" anchor="ctr">
                    <a:solidFill>
                      <a:srgbClr val="2037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45720" marR="45720" marT="27432" marB="27432" anchor="ctr">
                    <a:solidFill>
                      <a:srgbClr val="203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Causal structure learning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HC + Tabu + GES + bootstrap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Bayesian model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17 nodes • 23 edges • 175 CPT entries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Treatment intervention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41414"/>
                          </a:solidFill>
                          <a:latin typeface="Arial"/>
                        </a:rPr>
                        <a:t>do(trt) across 4 treatments</a:t>
                      </a:r>
                    </a:p>
                  </a:txBody>
                  <a:tcPr marL="45720" marR="45720" marT="27432" marB="27432" anchor="ctr">
                    <a:solidFill>
                      <a:srgbClr val="EB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Evaluation &amp; dashboard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414"/>
                          </a:solidFill>
                          <a:latin typeface="Arial"/>
                        </a:rPr>
                        <a:t>428-test validation + Flask/React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" y="4160520"/>
            <a:ext cx="237744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Accuracy</a:t>
            </a:r>
          </a:p>
          <a:p>
            <a:pPr>
              <a:spcBef>
                <a:spcPts val="400"/>
              </a:spcBef>
              <a:defRPr sz="2200">
                <a:solidFill>
                  <a:srgbClr val="141414"/>
                </a:solidFill>
                <a:latin typeface="Arial"/>
              </a:defRPr>
            </a:pPr>
            <a:r>
              <a:t>76.64%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4160520"/>
            <a:ext cx="237744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ROC AUC</a:t>
            </a:r>
          </a:p>
          <a:p>
            <a:pPr>
              <a:spcBef>
                <a:spcPts val="400"/>
              </a:spcBef>
              <a:defRPr sz="2200">
                <a:solidFill>
                  <a:srgbClr val="141414"/>
                </a:solidFill>
                <a:latin typeface="Arial"/>
              </a:defRPr>
            </a:pPr>
            <a:r>
              <a:t>0.6372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4160520"/>
            <a:ext cx="237744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03742"/>
                </a:solidFill>
                <a:latin typeface="Arial"/>
              </a:rPr>
              <a:t>ECE</a:t>
            </a:r>
          </a:p>
          <a:p>
            <a:pPr>
              <a:spcBef>
                <a:spcPts val="400"/>
              </a:spcBef>
              <a:defRPr sz="2200">
                <a:solidFill>
                  <a:srgbClr val="141414"/>
                </a:solidFill>
                <a:latin typeface="Arial"/>
              </a:defRPr>
            </a:pPr>
            <a:r>
              <a:t>0.0445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4160520"/>
            <a:ext cx="237744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 dirty="0">
                <a:solidFill>
                  <a:srgbClr val="203742"/>
                </a:solidFill>
                <a:latin typeface="Arial"/>
              </a:rPr>
              <a:t>Decision comparison</a:t>
            </a:r>
          </a:p>
          <a:p>
            <a:pPr>
              <a:spcBef>
                <a:spcPts val="400"/>
              </a:spcBef>
              <a:defRPr sz="2200">
                <a:solidFill>
                  <a:srgbClr val="141414"/>
                </a:solidFill>
                <a:latin typeface="Arial"/>
              </a:defRPr>
            </a:pPr>
            <a:r>
              <a:rPr dirty="0"/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1498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Arial"/>
              </a:rPr>
              <a:t>Interpretation: well-calibrated probabilities with modest discrimination; treatment comparison is model-based, not proof of individual clinical superiority.</a:t>
            </a:r>
          </a:p>
        </p:txBody>
      </p:sp>
    </p:spTree>
    <p:extLst>
      <p:ext uri="{BB962C8B-B14F-4D97-AF65-F5344CB8AC3E}">
        <p14:creationId xmlns:p14="http://schemas.microsoft.com/office/powerpoint/2010/main" val="3036051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2D15-D8FD-09AC-659A-AAA11E02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70D6-0EE0-C8C3-45AF-80DC956B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41414"/>
                </a:solidFill>
                <a:latin typeface="Arial"/>
              </a:rPr>
              <a:t>Weekly Timeline for Project Completion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W1 — Problem definition, literature review &amp; ACTG175 dataset analysis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t>Understand the clinical problem, treatment arms, variables and outcome.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W2 — Preprocessing &amp; discretization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t>Schema validation, leakage control, sparse discretization and 1,711/428 split.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W3 — Causal structure learning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t>Temporal constraints; Hill Climbing, Tabu Search, GES and bootstrap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74320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>
                <a:solidFill>
                  <a:srgbClr val="203742"/>
                </a:solidFill>
                <a:latin typeface="Arial"/>
              </a:rPr>
              <a:t>W4 — DAG selection &amp; parameter learning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rPr dirty="0"/>
              <a:t>Select baseline DAG; add trt → label for intervention; learn </a:t>
            </a:r>
            <a:r>
              <a:rPr dirty="0" err="1"/>
              <a:t>BDeu</a:t>
            </a:r>
            <a:r>
              <a:rPr dirty="0"/>
              <a:t> CPTs with ESS=10.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>
                <a:solidFill>
                  <a:srgbClr val="203742"/>
                </a:solidFill>
                <a:latin typeface="Arial"/>
              </a:rPr>
              <a:t>W5 — Inference, intervention &amp; validation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rPr dirty="0"/>
              <a:t>Variable Elimination, do(trt), treatment ranking, predictive metrics and decision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251960"/>
            <a:ext cx="5074920" cy="1234440"/>
          </a:xfrm>
          <a:prstGeom prst="roundRect">
            <a:avLst/>
          </a:prstGeom>
          <a:solidFill>
            <a:srgbClr val="EBF3F5"/>
          </a:solidFill>
          <a:ln w="12700"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203742"/>
                </a:solidFill>
                <a:latin typeface="Arial"/>
              </a:rPr>
              <a:t>W6 — API, dashboard, testing &amp; presentation</a:t>
            </a:r>
          </a:p>
          <a:p>
            <a:pPr>
              <a:defRPr sz="1300">
                <a:solidFill>
                  <a:srgbClr val="141414"/>
                </a:solidFill>
                <a:latin typeface="Arial"/>
              </a:defRPr>
            </a:pPr>
            <a:r>
              <a:t>Flask API, React dashboard, final testing, documentation and PPT preparation.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2412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Six-week timeline aligned to the project's implementation stages; exact calendar dates can be added if required.</a:t>
            </a:r>
          </a:p>
        </p:txBody>
      </p:sp>
    </p:spTree>
    <p:extLst>
      <p:ext uri="{BB962C8B-B14F-4D97-AF65-F5344CB8AC3E}">
        <p14:creationId xmlns:p14="http://schemas.microsoft.com/office/powerpoint/2010/main" val="3170386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24092-712F-6F3F-DADB-212C57D5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25BD-89DB-76DE-3D28-DD000278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0" dirty="0">
                <a:solidFill>
                  <a:srgbClr val="141414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241280" cy="39333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Kyrimi, E., Mossadegh, S., Wohlgemut, J. M., Stoner, R. S., Tai, N. R. M., &amp; Marsh, W. (2025). </a:t>
            </a:r>
            <a:r>
              <a:rPr lang="en-IN" i="1" dirty="0"/>
              <a:t>Counterfactual reasoning using causal Bayesian networks as a healthcare governance tool.</a:t>
            </a:r>
            <a:r>
              <a:rPr lang="en-IN" dirty="0"/>
              <a:t> International Journal of Medical Informatics, 193, 105681. DOI: 10.1016/j.ijmedinf.2024.105681.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Zahoor, S., </a:t>
            </a:r>
            <a:r>
              <a:rPr lang="en-IN" dirty="0" err="1"/>
              <a:t>Liò</a:t>
            </a:r>
            <a:r>
              <a:rPr lang="en-IN" dirty="0"/>
              <a:t>, P., Dias, G., &amp; </a:t>
            </a:r>
            <a:r>
              <a:rPr lang="en-IN" dirty="0" err="1"/>
              <a:t>Hasanuzzaman</a:t>
            </a:r>
            <a:r>
              <a:rPr lang="en-IN" dirty="0"/>
              <a:t>, M. (2026). </a:t>
            </a:r>
            <a:r>
              <a:rPr lang="en-IN" i="1" dirty="0"/>
              <a:t>Integrating probabilistic trees and causal networks for clinical and epidemiological data.</a:t>
            </a:r>
            <a:r>
              <a:rPr lang="en-IN" dirty="0"/>
              <a:t> Artificial Intelligence in Medicine, 173, 103350. DOI: 10.1016/j.artmed.2026.103350.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Hammer, S. M., et al. (1996). </a:t>
            </a:r>
            <a:r>
              <a:rPr lang="en-IN" i="1" dirty="0"/>
              <a:t>A Trial Comparing Nucleoside Monotherapy with Combination Therapy in HIV-Infected Adults with CD4 Cell Counts from 200 to 500 per Cubic Millimeter.</a:t>
            </a:r>
            <a:r>
              <a:rPr lang="en-IN" dirty="0"/>
              <a:t> New England Journal of Medicine, 335, 1081–1090.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Katzenstein, D. A., et al. (1996). </a:t>
            </a:r>
            <a:r>
              <a:rPr lang="en-IN" i="1" dirty="0"/>
              <a:t>The Relation of Virologic and Immunologic Markers to Clinical Outcomes after Nucleoside Therapy in HIV-Infected Adults with 200 to 500 CD4 Cells per Cubic Millimeter.</a:t>
            </a:r>
            <a:r>
              <a:rPr lang="en-IN" dirty="0"/>
              <a:t> New England Journal of Medicine, 335, 1091–1098.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 err="1"/>
              <a:t>pgmpy</a:t>
            </a:r>
            <a:r>
              <a:rPr lang="en-IN" dirty="0"/>
              <a:t> Documentation. </a:t>
            </a:r>
            <a:r>
              <a:rPr lang="en-IN" i="1" dirty="0"/>
              <a:t>Bayesian Parameter Estimation and Variable Elimination for Bayesian Networks.</a:t>
            </a:r>
            <a:r>
              <a:rPr lang="en-IN" dirty="0"/>
              <a:t> </a:t>
            </a:r>
            <a:r>
              <a:rPr lang="en-IN" dirty="0" err="1"/>
              <a:t>pgmpy</a:t>
            </a:r>
            <a:r>
              <a:rPr lang="en-IN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532120"/>
            <a:ext cx="10058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F606E"/>
                </a:solidFill>
                <a:latin typeface="Arial"/>
              </a:rPr>
              <a:t>Project dataset: ACTG175 AIDS Clinical Trial Group Study 175</a:t>
            </a:r>
          </a:p>
        </p:txBody>
      </p:sp>
    </p:spTree>
    <p:extLst>
      <p:ext uri="{BB962C8B-B14F-4D97-AF65-F5344CB8AC3E}">
        <p14:creationId xmlns:p14="http://schemas.microsoft.com/office/powerpoint/2010/main" val="57232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1DC104-2E4B-43CC-B39C-21870E0D4D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BE8ED61-228C-427D-B41B-22794B46E3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158A55-52A1-446C-8166-A546454104B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1499</Words>
  <Application>Microsoft Office PowerPoint</Application>
  <PresentationFormat>Widescreen</PresentationFormat>
  <Paragraphs>188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Outline of the Presentation</vt:lpstr>
      <vt:lpstr>Introduction</vt:lpstr>
      <vt:lpstr>Literature Review</vt:lpstr>
      <vt:lpstr>Takeaways / Research Gaps from Literature</vt:lpstr>
      <vt:lpstr>Objectives</vt:lpstr>
      <vt:lpstr>Methodology – Overall</vt:lpstr>
      <vt:lpstr>Methodology – PR Inference</vt:lpstr>
      <vt:lpstr>Methodology – PR Learning</vt:lpstr>
      <vt:lpstr>Methodology – Decision, Intervention &amp; What-If Scenarios</vt:lpstr>
      <vt:lpstr>Methodology – Combining with Modern AI</vt:lpstr>
      <vt:lpstr>Progress in terms of Project Objectives</vt:lpstr>
      <vt:lpstr>Weekly Timeline for Project Completion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Navaneeth Haridasan</dc:creator>
  <cp:lastModifiedBy>Sai Kushal Boggarapu</cp:lastModifiedBy>
  <cp:revision>3</cp:revision>
  <dcterms:created xsi:type="dcterms:W3CDTF">2026-08-10T03:37:37Z</dcterms:created>
  <dcterms:modified xsi:type="dcterms:W3CDTF">2026-08-16T15:18:36Z</dcterms:modified>
</cp:coreProperties>
</file>